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58" r:id="rId9"/>
    <p:sldId id="266" r:id="rId10"/>
  </p:sldIdLst>
  <p:sldSz cx="12192000" cy="6858000"/>
  <p:notesSz cx="6858000" cy="9144000"/>
  <p:embeddedFontLst>
    <p:embeddedFont>
      <p:font typeface="SamsungOne 450C" panose="020B0506030303020204" charset="0"/>
      <p:regular r:id="rId12"/>
    </p:embeddedFont>
    <p:embeddedFont>
      <p:font typeface="SamsungOne 800C" panose="020B0906030303020204" charset="0"/>
      <p:bold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A"/>
    <a:srgbClr val="3094FF"/>
    <a:srgbClr val="5DCDFF"/>
    <a:srgbClr val="0071BC"/>
    <a:srgbClr val="A0E5FE"/>
    <a:srgbClr val="8864FF"/>
    <a:srgbClr val="00AFFF"/>
    <a:srgbClr val="F98413"/>
    <a:srgbClr val="CC5BAB"/>
    <a:srgbClr val="905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D64DB-6921-4E89-BB57-DA51E842492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9ED0C-BBFD-4690-9EF1-F32FDBA46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4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gradFill>
          <a:gsLst>
            <a:gs pos="6000">
              <a:schemeClr val="bg1"/>
            </a:gs>
            <a:gs pos="62000">
              <a:srgbClr val="5DCDFF"/>
            </a:gs>
            <a:gs pos="97000">
              <a:srgbClr val="8C62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325F9ED-FB2E-4ADD-8962-42ED7470A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5479" r="30931" b="31085"/>
          <a:stretch/>
        </p:blipFill>
        <p:spPr>
          <a:xfrm>
            <a:off x="3323205" y="0"/>
            <a:ext cx="886879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D5EE4-F580-40F4-BCB2-FA2D3F254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0518" y="1406419"/>
            <a:ext cx="5833281" cy="2227482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>
                <a:solidFill>
                  <a:srgbClr val="00497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2E705D-C962-41AC-853C-CF8433608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0518" y="3713056"/>
            <a:ext cx="5833281" cy="1828800"/>
          </a:xfrm>
        </p:spPr>
        <p:txBody>
          <a:bodyPr anchor="ctr">
            <a:norm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497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8005A1-155B-4DB1-875C-2838BFF3D9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2153465" cy="121132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AD9452-0CC7-4848-B519-6D22F6986C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1" r="11861"/>
          <a:stretch/>
        </p:blipFill>
        <p:spPr>
          <a:xfrm>
            <a:off x="645730" y="980905"/>
            <a:ext cx="4874788" cy="5196502"/>
          </a:xfrm>
          <a:prstGeom prst="rect">
            <a:avLst/>
          </a:prstGeom>
        </p:spPr>
      </p:pic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CFBF183B-B98F-497F-9D31-BA26CF15B95F}"/>
              </a:ext>
            </a:extLst>
          </p:cNvPr>
          <p:cNvSpPr/>
          <p:nvPr userDrawn="1"/>
        </p:nvSpPr>
        <p:spPr>
          <a:xfrm rot="8100000">
            <a:off x="813790" y="107908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ECC510C8-6A8C-45FD-8F26-843E5DA58694}"/>
              </a:ext>
            </a:extLst>
          </p:cNvPr>
          <p:cNvSpPr/>
          <p:nvPr userDrawn="1"/>
        </p:nvSpPr>
        <p:spPr>
          <a:xfrm rot="8100000">
            <a:off x="724981" y="2206207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25A0F228-368F-4E72-AEFA-B8F7A2C64265}"/>
              </a:ext>
            </a:extLst>
          </p:cNvPr>
          <p:cNvSpPr/>
          <p:nvPr userDrawn="1"/>
        </p:nvSpPr>
        <p:spPr>
          <a:xfrm rot="13500000">
            <a:off x="4246229" y="1668722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789CF102-F384-4159-BBA3-C403C20908A9}"/>
              </a:ext>
            </a:extLst>
          </p:cNvPr>
          <p:cNvSpPr/>
          <p:nvPr userDrawn="1"/>
        </p:nvSpPr>
        <p:spPr>
          <a:xfrm rot="13500000">
            <a:off x="241646" y="5444620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F8265A1-CAD2-4652-B16C-F2E19FD81F2F}"/>
              </a:ext>
            </a:extLst>
          </p:cNvPr>
          <p:cNvSpPr/>
          <p:nvPr userDrawn="1"/>
        </p:nvSpPr>
        <p:spPr>
          <a:xfrm rot="8100000">
            <a:off x="3490418" y="718813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9B0330C4-C5DD-4328-9BC7-57E1A77F6C10}"/>
              </a:ext>
            </a:extLst>
          </p:cNvPr>
          <p:cNvSpPr/>
          <p:nvPr userDrawn="1"/>
        </p:nvSpPr>
        <p:spPr>
          <a:xfrm rot="8100000">
            <a:off x="3688713" y="5151587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46B80265-DFAF-44E4-9B95-A2E492A32C17}"/>
              </a:ext>
            </a:extLst>
          </p:cNvPr>
          <p:cNvSpPr/>
          <p:nvPr userDrawn="1"/>
        </p:nvSpPr>
        <p:spPr>
          <a:xfrm>
            <a:off x="5853521" y="573125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10C2B20E-A830-482D-9E71-F29AC39BF8FB}"/>
              </a:ext>
            </a:extLst>
          </p:cNvPr>
          <p:cNvSpPr/>
          <p:nvPr userDrawn="1"/>
        </p:nvSpPr>
        <p:spPr>
          <a:xfrm>
            <a:off x="1130668" y="3065167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70E281E6-C275-41B0-8148-CABD6541204F}"/>
              </a:ext>
            </a:extLst>
          </p:cNvPr>
          <p:cNvSpPr/>
          <p:nvPr userDrawn="1"/>
        </p:nvSpPr>
        <p:spPr>
          <a:xfrm>
            <a:off x="3245400" y="1701670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C9933528-0DCA-4F7C-922E-4999CAAD3D5A}"/>
              </a:ext>
            </a:extLst>
          </p:cNvPr>
          <p:cNvSpPr/>
          <p:nvPr userDrawn="1"/>
        </p:nvSpPr>
        <p:spPr>
          <a:xfrm>
            <a:off x="1356679" y="5404154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6C65F344-A574-4F02-91D3-07FC6E5B5033}"/>
              </a:ext>
            </a:extLst>
          </p:cNvPr>
          <p:cNvSpPr/>
          <p:nvPr userDrawn="1"/>
        </p:nvSpPr>
        <p:spPr>
          <a:xfrm rot="18900000">
            <a:off x="2386678" y="5706960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7B33F8A4-D60D-488E-81ED-86A3FE6D62E8}"/>
              </a:ext>
            </a:extLst>
          </p:cNvPr>
          <p:cNvSpPr/>
          <p:nvPr userDrawn="1"/>
        </p:nvSpPr>
        <p:spPr>
          <a:xfrm rot="18900000">
            <a:off x="4710131" y="5536795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C4E599F6-5CBC-4551-BD6C-077F23AF3941}"/>
              </a:ext>
            </a:extLst>
          </p:cNvPr>
          <p:cNvSpPr/>
          <p:nvPr userDrawn="1"/>
        </p:nvSpPr>
        <p:spPr>
          <a:xfrm rot="18900000">
            <a:off x="7686638" y="5679449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ый треугольник 24">
            <a:extLst>
              <a:ext uri="{FF2B5EF4-FFF2-40B4-BE49-F238E27FC236}">
                <a16:creationId xmlns:a16="http://schemas.microsoft.com/office/drawing/2014/main" id="{11E09F5D-4D01-4972-9F22-02A0248FF409}"/>
              </a:ext>
            </a:extLst>
          </p:cNvPr>
          <p:cNvSpPr/>
          <p:nvPr userDrawn="1"/>
        </p:nvSpPr>
        <p:spPr>
          <a:xfrm rot="18900000">
            <a:off x="11138348" y="5702654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ый треугольник 25">
            <a:extLst>
              <a:ext uri="{FF2B5EF4-FFF2-40B4-BE49-F238E27FC236}">
                <a16:creationId xmlns:a16="http://schemas.microsoft.com/office/drawing/2014/main" id="{1F17356E-9932-4687-822B-7B46265456F4}"/>
              </a:ext>
            </a:extLst>
          </p:cNvPr>
          <p:cNvSpPr/>
          <p:nvPr userDrawn="1"/>
        </p:nvSpPr>
        <p:spPr>
          <a:xfrm rot="8100000">
            <a:off x="9141043" y="116612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64F3876-52EF-445F-9D88-E589DA2D39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69629" y="404261"/>
            <a:ext cx="1276295" cy="19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7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 Слайд">
    <p:bg>
      <p:bgPr>
        <a:gradFill>
          <a:gsLst>
            <a:gs pos="0">
              <a:schemeClr val="bg1"/>
            </a:gs>
            <a:gs pos="38000">
              <a:srgbClr val="5DCDFF"/>
            </a:gs>
            <a:gs pos="64000">
              <a:srgbClr val="8C62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865ADE-93B5-4588-8305-48B2BEC2FEEA}"/>
              </a:ext>
            </a:extLst>
          </p:cNvPr>
          <p:cNvSpPr/>
          <p:nvPr userDrawn="1"/>
        </p:nvSpPr>
        <p:spPr>
          <a:xfrm>
            <a:off x="75143" y="66438"/>
            <a:ext cx="12041715" cy="672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0CF99737-AECE-4F14-89EE-B6B6EB94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10515600" cy="4974147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8005A1-155B-4DB1-875C-2838BFF3D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78" y="230091"/>
            <a:ext cx="1565600" cy="880650"/>
          </a:xfrm>
          <a:prstGeom prst="rect">
            <a:avLst/>
          </a:prstGeom>
        </p:spPr>
      </p:pic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CFBF183B-B98F-497F-9D31-BA26CF15B95F}"/>
              </a:ext>
            </a:extLst>
          </p:cNvPr>
          <p:cNvSpPr/>
          <p:nvPr userDrawn="1"/>
        </p:nvSpPr>
        <p:spPr>
          <a:xfrm rot="8100000">
            <a:off x="463203" y="707191"/>
            <a:ext cx="184546" cy="182731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789CF102-F384-4159-BBA3-C403C20908A9}"/>
              </a:ext>
            </a:extLst>
          </p:cNvPr>
          <p:cNvSpPr/>
          <p:nvPr userDrawn="1"/>
        </p:nvSpPr>
        <p:spPr>
          <a:xfrm rot="13500000">
            <a:off x="247432" y="1848548"/>
            <a:ext cx="390872" cy="38703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F8265A1-CAD2-4652-B16C-F2E19FD81F2F}"/>
              </a:ext>
            </a:extLst>
          </p:cNvPr>
          <p:cNvSpPr/>
          <p:nvPr userDrawn="1"/>
        </p:nvSpPr>
        <p:spPr>
          <a:xfrm rot="8100000">
            <a:off x="452221" y="237731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9B0330C4-C5DD-4328-9BC7-57E1A77F6C10}"/>
              </a:ext>
            </a:extLst>
          </p:cNvPr>
          <p:cNvSpPr/>
          <p:nvPr userDrawn="1"/>
        </p:nvSpPr>
        <p:spPr>
          <a:xfrm rot="8100000">
            <a:off x="11630738" y="6109252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6C65F344-A574-4F02-91D3-07FC6E5B5033}"/>
              </a:ext>
            </a:extLst>
          </p:cNvPr>
          <p:cNvSpPr/>
          <p:nvPr userDrawn="1"/>
        </p:nvSpPr>
        <p:spPr>
          <a:xfrm rot="18900000">
            <a:off x="640728" y="5962466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7B33F8A4-D60D-488E-81ED-86A3FE6D62E8}"/>
              </a:ext>
            </a:extLst>
          </p:cNvPr>
          <p:cNvSpPr/>
          <p:nvPr userDrawn="1"/>
        </p:nvSpPr>
        <p:spPr>
          <a:xfrm rot="18900000">
            <a:off x="3552592" y="6019366"/>
            <a:ext cx="276113" cy="273399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C4E599F6-5CBC-4551-BD6C-077F23AF3941}"/>
              </a:ext>
            </a:extLst>
          </p:cNvPr>
          <p:cNvSpPr/>
          <p:nvPr userDrawn="1"/>
        </p:nvSpPr>
        <p:spPr>
          <a:xfrm rot="18900000">
            <a:off x="8198253" y="6158127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ый треугольник 24">
            <a:extLst>
              <a:ext uri="{FF2B5EF4-FFF2-40B4-BE49-F238E27FC236}">
                <a16:creationId xmlns:a16="http://schemas.microsoft.com/office/drawing/2014/main" id="{11E09F5D-4D01-4972-9F22-02A0248FF409}"/>
              </a:ext>
            </a:extLst>
          </p:cNvPr>
          <p:cNvSpPr/>
          <p:nvPr userDrawn="1"/>
        </p:nvSpPr>
        <p:spPr>
          <a:xfrm rot="18900000">
            <a:off x="11492079" y="6292570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45522D5-2C20-4CF3-A8DA-DDA5137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</p:spPr>
        <p:txBody>
          <a:bodyPr/>
          <a:lstStyle>
            <a:lvl1pPr>
              <a:lnSpc>
                <a:spcPct val="70000"/>
              </a:lnSpc>
              <a:defRPr>
                <a:solidFill>
                  <a:srgbClr val="00497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76A972D-CF22-4B4A-AF0A-F6DC4391B4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130354" y="598091"/>
            <a:ext cx="1272875" cy="1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9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A2AC8-114A-46AC-B35B-396DBE58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7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6DE726-AA14-4FAF-B5F3-2A3EFA0B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535"/>
            <a:ext cx="10515600" cy="4894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D4354-4778-468B-91C4-97249FCFD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B0392-6652-4E63-9185-19FE4105AD5C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F4A626-4F6C-42AB-8AFF-12301F58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200E71-06BC-408F-90F3-B595B2DBF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90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13D635-6BF1-4764-86FF-0A9663CDE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0519" y="2104846"/>
            <a:ext cx="5124476" cy="269545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ru-RU" sz="2000" dirty="0">
                <a:effectLst/>
              </a:rPr>
            </a:br>
            <a:r>
              <a:rPr lang="ru-RU" sz="2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  <a:br>
              <a:rPr lang="en-US" sz="2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Разработка клиент-серверного мобильного приложения «Справочник сотрудников»</a:t>
            </a:r>
            <a:br>
              <a:rPr lang="ru-RU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000" dirty="0">
                <a:effectLst/>
              </a:rPr>
            </a:b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9D88EB6-1ACB-4054-871A-5CA5A2A46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0519" y="4282399"/>
            <a:ext cx="5833281" cy="1828800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Представил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Поспелов Дмитрий Денисович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ИКБО-63-23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2A2831-1BF4-41B3-BA8D-215B49F8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F048-DFDB-4194-AEE4-02DDD855F7A2}" type="datetime1">
              <a:rPr lang="ru-RU" smtClean="0"/>
              <a:t>27.05.2026</a:t>
            </a:fld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21B821-5910-4401-BDB1-D24135D7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00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698" y="1433015"/>
            <a:ext cx="6925101" cy="474394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  <a:endParaRPr lang="ru-RU" sz="15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современных компаниях эффективное управление кадровым составом — одна из ключевых задач. По данным HH.ru и </a:t>
            </a:r>
            <a:r>
              <a:rPr lang="ru-RU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SuperJob</a:t>
            </a:r>
            <a:r>
              <a:rPr lang="ru-RU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более 68% компаний испытывают сложности с быстрым поиском информации о сотрудниках.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Цель работы:</a:t>
            </a:r>
            <a:r>
              <a:rPr lang="ru-RU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Разработать клиент-серверное мобильное приложение «Справочник», которое позволит быстро находить информацию о сотрудниках, осуществлять поиск и управление данными.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  <a:endParaRPr lang="ru-RU" sz="15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серверную часть на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Ktor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мобильное приложение на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Jetpack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авторизацию через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Обеспечить хранение данных в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Neon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Обеспечить безопасность и удобный UI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Введение и Актуальность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4324104-FCFA-38E8-EFD3-5B4D77369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562" y="3380423"/>
            <a:ext cx="1764461" cy="176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F901A6AC-F8BE-BC46-E57B-A0F651DF2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62" y="1652929"/>
            <a:ext cx="2797063" cy="106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77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256" y="2936868"/>
            <a:ext cx="2743201" cy="2200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Плюсы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Очень мощная система, подходит для крупных компаний</a:t>
            </a: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Минусы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Сложный интерфейс, высокая стоимость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Обзор существующих аналогов</a:t>
            </a:r>
          </a:p>
        </p:txBody>
      </p:sp>
      <p:pic>
        <p:nvPicPr>
          <p:cNvPr id="2050" name="Picture 2" descr="Workday - Компьютерное приложение для Mac, Windows (ПК) - WebCatalog">
            <a:extLst>
              <a:ext uri="{FF2B5EF4-FFF2-40B4-BE49-F238E27FC236}">
                <a16:creationId xmlns:a16="http://schemas.microsoft.com/office/drawing/2014/main" id="{DB3608DF-A056-BE1A-6B21-B039E3204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57" y="1482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Приложения в Google Play – BambooHR">
            <a:extLst>
              <a:ext uri="{FF2B5EF4-FFF2-40B4-BE49-F238E27FC236}">
                <a16:creationId xmlns:a16="http://schemas.microsoft.com/office/drawing/2014/main" id="{DC08FB81-5BC9-BC4C-0D39-A3D6ECFB0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483" y="147884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C79887-D485-05D7-0E43-3163757C1AE6}"/>
              </a:ext>
            </a:extLst>
          </p:cNvPr>
          <p:cNvSpPr txBox="1"/>
          <p:nvPr/>
        </p:nvSpPr>
        <p:spPr>
          <a:xfrm>
            <a:off x="4468482" y="2883152"/>
            <a:ext cx="2743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Плюсы</a:t>
            </a:r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Удобный интерфейс, мобильное приложение, сильная автоматизация HR-процессов</a:t>
            </a:r>
          </a:p>
          <a:p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Минусы</a:t>
            </a:r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Дорого для небольших компаний, ограниченная кастомизация</a:t>
            </a:r>
          </a:p>
          <a:p>
            <a:endParaRPr lang="ru-RU" dirty="0">
              <a:solidFill>
                <a:srgbClr val="00497A"/>
              </a:solidFill>
            </a:endParaRPr>
          </a:p>
        </p:txBody>
      </p:sp>
      <p:pic>
        <p:nvPicPr>
          <p:cNvPr id="2054" name="Picture 6" descr="Мой Склад Обзор 2026: Отзывы, Цена, Аналоги | MIISOFT">
            <a:extLst>
              <a:ext uri="{FF2B5EF4-FFF2-40B4-BE49-F238E27FC236}">
                <a16:creationId xmlns:a16="http://schemas.microsoft.com/office/drawing/2014/main" id="{9B574A5A-0BFB-82B4-8BDC-9028AD317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710" y="147884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90CE4A-CB14-0CBF-39CF-A1D8A2A1D483}"/>
              </a:ext>
            </a:extLst>
          </p:cNvPr>
          <p:cNvSpPr txBox="1"/>
          <p:nvPr/>
        </p:nvSpPr>
        <p:spPr>
          <a:xfrm>
            <a:off x="7707703" y="2879804"/>
            <a:ext cx="28352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Плюсы</a:t>
            </a:r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1СИнтеграция с российским учётом</a:t>
            </a:r>
          </a:p>
          <a:p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Минусы</a:t>
            </a:r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Устаревший дизайн, слабый мобильный интерфейс</a:t>
            </a:r>
          </a:p>
          <a:p>
            <a:endParaRPr lang="ru-RU" dirty="0">
              <a:solidFill>
                <a:srgbClr val="00497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6E977-3E7D-78F8-B633-2824F3D0A94F}"/>
              </a:ext>
            </a:extLst>
          </p:cNvPr>
          <p:cNvSpPr txBox="1"/>
          <p:nvPr/>
        </p:nvSpPr>
        <p:spPr>
          <a:xfrm>
            <a:off x="1945257" y="1123253"/>
            <a:ext cx="1230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Workday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C0D67-062B-D3A4-558B-573BAC82AC06}"/>
              </a:ext>
            </a:extLst>
          </p:cNvPr>
          <p:cNvSpPr txBox="1"/>
          <p:nvPr/>
        </p:nvSpPr>
        <p:spPr>
          <a:xfrm>
            <a:off x="5124991" y="1113304"/>
            <a:ext cx="1454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BambooHR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F8B75-1706-73E9-FDD5-520544753072}"/>
              </a:ext>
            </a:extLst>
          </p:cNvPr>
          <p:cNvSpPr txBox="1"/>
          <p:nvPr/>
        </p:nvSpPr>
        <p:spPr>
          <a:xfrm>
            <a:off x="8426177" y="1123253"/>
            <a:ext cx="1398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00497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МойСклад</a:t>
            </a:r>
            <a:endParaRPr lang="ru-RU" b="1" dirty="0">
              <a:solidFill>
                <a:srgbClr val="00497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60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BDB1A461-64E6-322F-87ED-EC7117533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9694" y="1534929"/>
            <a:ext cx="4872612" cy="3477020"/>
          </a:xfrm>
        </p:spPr>
      </p:pic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Функциональные требования</a:t>
            </a:r>
          </a:p>
        </p:txBody>
      </p:sp>
    </p:spTree>
    <p:extLst>
      <p:ext uri="{BB962C8B-B14F-4D97-AF65-F5344CB8AC3E}">
        <p14:creationId xmlns:p14="http://schemas.microsoft.com/office/powerpoint/2010/main" val="282088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328" y="1383801"/>
            <a:ext cx="3844034" cy="2368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Серверная часть:</a:t>
            </a:r>
            <a:endParaRPr lang="ru-RU" dirty="0">
              <a:effectLst/>
            </a:endParaRPr>
          </a:p>
          <a:p>
            <a:pPr lvl="1"/>
            <a:r>
              <a:rPr lang="en-US" dirty="0"/>
              <a:t>Kotlin + </a:t>
            </a:r>
            <a:r>
              <a:rPr lang="en-US" dirty="0" err="1"/>
              <a:t>Ktor</a:t>
            </a:r>
            <a:endParaRPr lang="en-US" dirty="0"/>
          </a:p>
          <a:p>
            <a:pPr lvl="1"/>
            <a:r>
              <a:rPr lang="en-US" dirty="0"/>
              <a:t>Exposed (ORM)</a:t>
            </a:r>
          </a:p>
          <a:p>
            <a:pPr lvl="1"/>
            <a:r>
              <a:rPr lang="en-US" dirty="0"/>
              <a:t>PostgreSQL (</a:t>
            </a:r>
            <a:r>
              <a:rPr lang="en-US" dirty="0" err="1"/>
              <a:t>Neon.tech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HikariCP</a:t>
            </a:r>
            <a:endParaRPr lang="en-US" dirty="0"/>
          </a:p>
          <a:p>
            <a:pPr lvl="1"/>
            <a:r>
              <a:rPr lang="en-US" dirty="0"/>
              <a:t>Firebase Admin SDK (</a:t>
            </a:r>
            <a:r>
              <a:rPr lang="ru-RU" dirty="0"/>
              <a:t>авторизация)</a:t>
            </a:r>
            <a:endParaRPr lang="en-US" dirty="0"/>
          </a:p>
          <a:p>
            <a:pPr lvl="1"/>
            <a:r>
              <a:rPr lang="en-US" dirty="0"/>
              <a:t>Clean Architecture</a:t>
            </a:r>
          </a:p>
          <a:p>
            <a:pPr lvl="1"/>
            <a:endParaRPr lang="en-US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Технологии разработки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B83E6B48-DDC3-38AC-8CF4-9415F96849D0}"/>
              </a:ext>
            </a:extLst>
          </p:cNvPr>
          <p:cNvSpPr txBox="1">
            <a:spLocks/>
          </p:cNvSpPr>
          <p:nvPr/>
        </p:nvSpPr>
        <p:spPr>
          <a:xfrm>
            <a:off x="5771544" y="1383801"/>
            <a:ext cx="3844034" cy="213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effectLst/>
              </a:rPr>
              <a:t>Клиентская часть:</a:t>
            </a:r>
            <a:endParaRPr lang="ru-RU" dirty="0">
              <a:effectLst/>
            </a:endParaRPr>
          </a:p>
          <a:p>
            <a:pPr lvl="1"/>
            <a:r>
              <a:rPr lang="en-US" dirty="0"/>
              <a:t>Kotlin + Jetpack Compose</a:t>
            </a:r>
          </a:p>
          <a:p>
            <a:pPr lvl="1"/>
            <a:r>
              <a:rPr lang="en-US" dirty="0"/>
              <a:t>Hilt (DI)</a:t>
            </a:r>
          </a:p>
          <a:p>
            <a:pPr lvl="1"/>
            <a:r>
              <a:rPr lang="en-US" dirty="0"/>
              <a:t>Retrofit + </a:t>
            </a:r>
            <a:r>
              <a:rPr lang="en-US" dirty="0" err="1"/>
              <a:t>Gson</a:t>
            </a:r>
            <a:endParaRPr lang="en-US" dirty="0"/>
          </a:p>
          <a:p>
            <a:pPr lvl="1"/>
            <a:r>
              <a:rPr lang="en-US" dirty="0"/>
              <a:t>Firebase Authentication</a:t>
            </a:r>
          </a:p>
          <a:p>
            <a:pPr lvl="1"/>
            <a:r>
              <a:rPr lang="en-US" dirty="0"/>
              <a:t>Navigation Compose</a:t>
            </a:r>
          </a:p>
          <a:p>
            <a:pPr lvl="1"/>
            <a:r>
              <a:rPr lang="en-US" dirty="0"/>
              <a:t>Clean Architecture</a:t>
            </a:r>
          </a:p>
        </p:txBody>
      </p:sp>
      <p:pic>
        <p:nvPicPr>
          <p:cNvPr id="9" name="Google Shape;126;p5" descr="Picture background">
            <a:extLst>
              <a:ext uri="{FF2B5EF4-FFF2-40B4-BE49-F238E27FC236}">
                <a16:creationId xmlns:a16="http://schemas.microsoft.com/office/drawing/2014/main" id="{373CBAAC-03E1-0D2A-5673-302B0055E7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4938" b="27019"/>
          <a:stretch/>
        </p:blipFill>
        <p:spPr>
          <a:xfrm>
            <a:off x="1098903" y="3979083"/>
            <a:ext cx="2864868" cy="6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8;p5" descr="Picture background">
            <a:extLst>
              <a:ext uri="{FF2B5EF4-FFF2-40B4-BE49-F238E27FC236}">
                <a16:creationId xmlns:a16="http://schemas.microsoft.com/office/drawing/2014/main" id="{04C80C9A-BD87-912B-5D0F-95D085C9FE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425" b="21307"/>
          <a:stretch/>
        </p:blipFill>
        <p:spPr>
          <a:xfrm>
            <a:off x="2880959" y="5034943"/>
            <a:ext cx="1920975" cy="69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5;p5" descr="Picture background">
            <a:extLst>
              <a:ext uri="{FF2B5EF4-FFF2-40B4-BE49-F238E27FC236}">
                <a16:creationId xmlns:a16="http://schemas.microsoft.com/office/drawing/2014/main" id="{F6074ABE-0258-4BD1-4DFB-9DD14E4048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4362" y="4155116"/>
            <a:ext cx="2703657" cy="69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4CEEA09-D637-02DB-259B-B4F1B7FD1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55" y="5255734"/>
            <a:ext cx="2418272" cy="62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Ktor 1.0 Released: A Connected Applications Framework by JetBrains | The  Kotlin Blog">
            <a:extLst>
              <a:ext uri="{FF2B5EF4-FFF2-40B4-BE49-F238E27FC236}">
                <a16:creationId xmlns:a16="http://schemas.microsoft.com/office/drawing/2014/main" id="{9B2BB84D-245B-7ACA-6926-CD548DF1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185" y="3998936"/>
            <a:ext cx="2072014" cy="103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65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890" y="1548437"/>
            <a:ext cx="2743200" cy="351526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моменты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Взаимодействие с сервером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Внедрение зависимостей (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Hilt)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Слои архитектуры</a:t>
            </a:r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клиентской части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D70A17C-9C5C-274A-AE41-36143A29A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505" y="1170516"/>
            <a:ext cx="5857335" cy="42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3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Модель хранения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2955FE-0BFC-8255-09C1-47F2EE916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87" y="1138237"/>
            <a:ext cx="4391025" cy="458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05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Экраны приложения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D0227B0-BE33-9267-4026-D4791B65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23" y="1356138"/>
            <a:ext cx="1816109" cy="363751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92F2A98-39DC-1D8F-7FE4-2561C4F56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529" y="1356138"/>
            <a:ext cx="1768308" cy="363751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0F68BA3-B54E-3BCF-1C6A-CC24AB3AA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902" y="1356139"/>
            <a:ext cx="1737396" cy="363750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4CB9693-6323-2EFA-5E01-40F48E431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026" y="1356138"/>
            <a:ext cx="1724411" cy="363751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4C41461-64C6-D515-D982-4A47E6F2A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8437" y="1356138"/>
            <a:ext cx="1768600" cy="363751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49E8B1B-2E99-A2EB-EBDD-8D1362FEF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0373" y="1356139"/>
            <a:ext cx="1781529" cy="36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4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114"/>
            <a:ext cx="6847936" cy="4510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Справочник сотрудников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современное 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Android-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приложение для управления данными сотрудников с удобным интерфейсом.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результаты: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Разработано нативное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Android-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Jetpack Compose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Architecture + MVVM + Hilt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Авторизация через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Firebase Authentication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Backend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PostgreSQL (Neon)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Умный поиск с историей запросов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DataStore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Полный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CRUD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функционал с защитой данных по пользователям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27.05.2026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7" name="Google Shape;172;p9">
            <a:extLst>
              <a:ext uri="{FF2B5EF4-FFF2-40B4-BE49-F238E27FC236}">
                <a16:creationId xmlns:a16="http://schemas.microsoft.com/office/drawing/2014/main" id="{5E9492B9-FB7A-8A9D-31E9-2BF14635AC30}"/>
              </a:ext>
            </a:extLst>
          </p:cNvPr>
          <p:cNvSpPr txBox="1"/>
          <p:nvPr/>
        </p:nvSpPr>
        <p:spPr>
          <a:xfrm>
            <a:off x="8610600" y="1261519"/>
            <a:ext cx="3383261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Планы развития</a:t>
            </a:r>
            <a:endParaRPr dirty="0"/>
          </a:p>
        </p:txBody>
      </p:sp>
      <p:sp>
        <p:nvSpPr>
          <p:cNvPr id="10" name="Google Shape;173;p9">
            <a:extLst>
              <a:ext uri="{FF2B5EF4-FFF2-40B4-BE49-F238E27FC236}">
                <a16:creationId xmlns:a16="http://schemas.microsoft.com/office/drawing/2014/main" id="{F4030126-A3F9-E512-B349-51E1A794C755}"/>
              </a:ext>
            </a:extLst>
          </p:cNvPr>
          <p:cNvSpPr txBox="1"/>
          <p:nvPr/>
        </p:nvSpPr>
        <p:spPr>
          <a:xfrm>
            <a:off x="8610599" y="1873134"/>
            <a:ext cx="3383261" cy="115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6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497A"/>
                </a:solidFill>
                <a:latin typeface="Arial"/>
                <a:cs typeface="Arial"/>
                <a:sym typeface="Arial"/>
              </a:rPr>
              <a:t>Добавление функции группировки сотрудников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6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497A"/>
                </a:solidFill>
                <a:latin typeface="Arial"/>
                <a:cs typeface="Arial"/>
                <a:sym typeface="Arial"/>
              </a:rPr>
              <a:t>Общие улучшения функций приложения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7AA14-6D56-222C-61FB-14FC3201AB57}"/>
              </a:ext>
            </a:extLst>
          </p:cNvPr>
          <p:cNvSpPr txBox="1"/>
          <p:nvPr/>
        </p:nvSpPr>
        <p:spPr>
          <a:xfrm>
            <a:off x="8881160" y="3947331"/>
            <a:ext cx="311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Клиентская часть</a:t>
            </a:r>
            <a:r>
              <a:rPr lang="en-US" b="1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b="1" dirty="0">
              <a:solidFill>
                <a:srgbClr val="0049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https://github.com/dima5778/ktor-application</a:t>
            </a:r>
            <a:endParaRPr lang="ru-RU" dirty="0">
              <a:solidFill>
                <a:srgbClr val="0049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137FA-FF39-B884-B68C-99E90C20FE04}"/>
              </a:ext>
            </a:extLst>
          </p:cNvPr>
          <p:cNvSpPr txBox="1"/>
          <p:nvPr/>
        </p:nvSpPr>
        <p:spPr>
          <a:xfrm>
            <a:off x="8881161" y="3024001"/>
            <a:ext cx="311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Серверная часть</a:t>
            </a:r>
            <a:r>
              <a:rPr lang="en-US" b="1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solidFill>
                  <a:srgbClr val="0049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https://github.com/dima5778/ktor-server</a:t>
            </a:r>
            <a:endParaRPr lang="ru-RU" dirty="0">
              <a:solidFill>
                <a:srgbClr val="0049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514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354</Words>
  <Application>Microsoft Office PowerPoint</Application>
  <PresentationFormat>Широкоэкранный</PresentationFormat>
  <Paragraphs>80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SamsungOne 450C</vt:lpstr>
      <vt:lpstr>Arial</vt:lpstr>
      <vt:lpstr>Calibri</vt:lpstr>
      <vt:lpstr>SamsungOne 800C</vt:lpstr>
      <vt:lpstr>Тема Office</vt:lpstr>
      <vt:lpstr> Выпускная квалификационная работа  Разработка клиент-серверного мобильного приложения «Справочник сотрудников»  </vt:lpstr>
      <vt:lpstr>Введение и Актуальность</vt:lpstr>
      <vt:lpstr>Обзор существующих аналогов</vt:lpstr>
      <vt:lpstr>Функциональные требования</vt:lpstr>
      <vt:lpstr>Технологии разработки</vt:lpstr>
      <vt:lpstr>Архитектура клиентской части</vt:lpstr>
      <vt:lpstr>Модель хранения данных</vt:lpstr>
      <vt:lpstr>Экраны приложения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IT Academy Kotlin Course</dc:title>
  <dc:creator>Roman Lesovoy</dc:creator>
  <cp:lastModifiedBy>Дмитрий Поспелов</cp:lastModifiedBy>
  <cp:revision>27</cp:revision>
  <dcterms:created xsi:type="dcterms:W3CDTF">2020-10-18T13:39:56Z</dcterms:created>
  <dcterms:modified xsi:type="dcterms:W3CDTF">2026-05-27T21:30:53Z</dcterms:modified>
</cp:coreProperties>
</file>